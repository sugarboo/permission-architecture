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5265a3b2fb4213" /><Relationship Type="http://schemas.openxmlformats.org/officeDocument/2006/relationships/extended-properties" Target="/docProps/app.xml" Id="Ra92c54a073174c92" /><Relationship Type="http://schemas.openxmlformats.org/officeDocument/2006/relationships/officeDocument" Target="/ppt/presentation.xml" Id="Rc2cfc201c95247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ec0539e51479b"/>
  </p:sldMasterIdLst>
  <p:notesMasterIdLst>
    <p:notesMasterId xmlns:r="http://schemas.openxmlformats.org/officeDocument/2006/relationships" r:id="Rc7fb3a1a2c3c405b"/>
  </p:notesMasterIdLst>
  <p:sldIdLst>
    <p:sldId xmlns:r="http://schemas.openxmlformats.org/officeDocument/2006/relationships" id="256" r:id="Rc69c57cce0db4430"/>
    <p:sldId xmlns:r="http://schemas.openxmlformats.org/officeDocument/2006/relationships" id="257" r:id="R75e799047cf04a4d"/>
    <p:sldId xmlns:r="http://schemas.openxmlformats.org/officeDocument/2006/relationships" id="258" r:id="Re80b4116ef3d4fca"/>
    <p:sldId xmlns:r="http://schemas.openxmlformats.org/officeDocument/2006/relationships" id="259" r:id="R10f01a939fd84603"/>
    <p:sldId xmlns:r="http://schemas.openxmlformats.org/officeDocument/2006/relationships" id="260" r:id="Rc6f6d99592524860"/>
    <p:sldId xmlns:r="http://schemas.openxmlformats.org/officeDocument/2006/relationships" id="261" r:id="R52c392efd9cf4311"/>
    <p:sldId xmlns:r="http://schemas.openxmlformats.org/officeDocument/2006/relationships" id="262" r:id="Ra09af3f443af4ba9"/>
    <p:sldId xmlns:r="http://schemas.openxmlformats.org/officeDocument/2006/relationships" id="263" r:id="R60e06c45ba8a4e20"/>
    <p:sldId xmlns:r="http://schemas.openxmlformats.org/officeDocument/2006/relationships" id="264" r:id="R629400adb1b540fe"/>
    <p:sldId xmlns:r="http://schemas.openxmlformats.org/officeDocument/2006/relationships" id="265" r:id="R61181497b03f4c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b77f5f3074efc" /><Relationship Type="http://schemas.openxmlformats.org/officeDocument/2006/relationships/slideMaster" Target="/ppt/slideMasters/slideMaster1.xml" Id="Rf30ec0539e51479b" /><Relationship Type="http://schemas.openxmlformats.org/officeDocument/2006/relationships/notesMaster" Target="/ppt/notesMasters/notesMaster1.xml" Id="Rc7fb3a1a2c3c405b" /><Relationship Type="http://schemas.openxmlformats.org/officeDocument/2006/relationships/presProps" Target="/ppt/presProps.xml" Id="R623cf0344bea455c" /><Relationship Type="http://schemas.openxmlformats.org/officeDocument/2006/relationships/tableStyles" Target="/ppt/tableStyles.xml" Id="R463dbe831b6b43df" /><Relationship Type="http://schemas.openxmlformats.org/officeDocument/2006/relationships/slide" Target="/ppt/slides/slide1.xml" Id="Rc69c57cce0db4430" /><Relationship Type="http://schemas.openxmlformats.org/officeDocument/2006/relationships/slide" Target="/ppt/slides/slide2.xml" Id="R75e799047cf04a4d" /><Relationship Type="http://schemas.openxmlformats.org/officeDocument/2006/relationships/slide" Target="/ppt/slides/slide3.xml" Id="Re80b4116ef3d4fca" /><Relationship Type="http://schemas.openxmlformats.org/officeDocument/2006/relationships/slide" Target="/ppt/slides/slide4.xml" Id="R10f01a939fd84603" /><Relationship Type="http://schemas.openxmlformats.org/officeDocument/2006/relationships/slide" Target="/ppt/slides/slide5.xml" Id="Rc6f6d99592524860" /><Relationship Type="http://schemas.openxmlformats.org/officeDocument/2006/relationships/slide" Target="/ppt/slides/slide6.xml" Id="R52c392efd9cf4311" /><Relationship Type="http://schemas.openxmlformats.org/officeDocument/2006/relationships/slide" Target="/ppt/slides/slide7.xml" Id="Ra09af3f443af4ba9" /><Relationship Type="http://schemas.openxmlformats.org/officeDocument/2006/relationships/slide" Target="/ppt/slides/slide8.xml" Id="R60e06c45ba8a4e20" /><Relationship Type="http://schemas.openxmlformats.org/officeDocument/2006/relationships/slide" Target="/ppt/slides/slide9.xml" Id="R629400adb1b540fe" /><Relationship Type="http://schemas.openxmlformats.org/officeDocument/2006/relationships/slide" Target="/ppt/slides/slide10.xml" Id="R61181497b03f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ef31c907c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16322b8854f39" /><Relationship Type="http://schemas.openxmlformats.org/officeDocument/2006/relationships/notesMaster" Target="/ppt/notesMasters/notesMaster1.xml" Id="Ra299048d447c4f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917a94ff5d4a5e" /><Relationship Type="http://schemas.openxmlformats.org/officeDocument/2006/relationships/notesMaster" Target="/ppt/notesMasters/notesMaster1.xml" Id="Rbbc08197368f44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0c43302b214d34" /><Relationship Type="http://schemas.openxmlformats.org/officeDocument/2006/relationships/notesMaster" Target="/ppt/notesMasters/notesMaster1.xml" Id="R92de9a4e8a204d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c2c6d68601477c" /><Relationship Type="http://schemas.openxmlformats.org/officeDocument/2006/relationships/notesMaster" Target="/ppt/notesMasters/notesMaster1.xml" Id="Rf7009721511a4e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6b792f08b64b08" /><Relationship Type="http://schemas.openxmlformats.org/officeDocument/2006/relationships/notesMaster" Target="/ppt/notesMasters/notesMaster1.xml" Id="R59111e8a6df640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c5d1ed3a214129" /><Relationship Type="http://schemas.openxmlformats.org/officeDocument/2006/relationships/notesMaster" Target="/ppt/notesMasters/notesMaster1.xml" Id="Ra7a2a2d89df140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8eb07d9ecd4b01" /><Relationship Type="http://schemas.openxmlformats.org/officeDocument/2006/relationships/notesMaster" Target="/ppt/notesMasters/notesMaster1.xml" Id="R8b399c860cca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c49a5ff8db412a" /><Relationship Type="http://schemas.openxmlformats.org/officeDocument/2006/relationships/notesMaster" Target="/ppt/notesMasters/notesMaster1.xml" Id="R377c241186a142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cf38685c9c4b77" /><Relationship Type="http://schemas.openxmlformats.org/officeDocument/2006/relationships/notesMaster" Target="/ppt/notesMasters/notesMaster1.xml" Id="Ra87298d39fbe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eb058c7954250" /><Relationship Type="http://schemas.openxmlformats.org/officeDocument/2006/relationships/notesMaster" Target="/ppt/notesMasters/notesMaster1.xml" Id="Rbb095cc932ef4a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开场只讲一个目标：把权限语言从 API 路径提升为业务功能，同时保留后端的技术执行边界。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先肯定现有 RBAC 与树形授权的价值，再指出 API 路径对运营人员不友好。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codex-clipboard-428a0122-9b31-44ff-b493-1f47bb588ccb.png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这页是整套方案的核心决策。前端仍消费功能码，但安全边界始终在后端。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https://umijs.org/en-US/docs/max/access/</a:t>
            </a:r>
          </a:p>
          <a:p xmlns:a="http://schemas.openxmlformats.org/drawingml/2006/main">
            <a:r>
              <a:t>- 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直接授权给用户意味着方案是 RBAC + ACL 混合模型。角色解决复用，个人加授解决少量例外。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https://csrc.nist.gov/Projects/Role-Based-Access-Control</a:t>
            </a:r>
          </a:p>
          <a:p xmlns:a="http://schemas.openxmlformats.org/drawingml/2006/main">
            <a:r>
              <a:t>- https://csrc.nist.gov/Projects/role-based-access-control/faqs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解释各对象的单一职责。菜单的父节点只是 UI 批量选择，不是未来后代的通配授权。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强调两个菜单包边界：父节点不保存未来通配；页面菜单中的 CORE 能力随菜单授予，OPTIONAL/高风险动作必须单独勾选。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角色只决定能做什么；岗位 + 数据域决定能对哪些数据做。功能直授不会自动带来数据范围，没有匹配策略时按 NONE。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https://doc.iocoder.cn/data-permission/</a:t>
            </a:r>
          </a:p>
          <a:p xmlns:a="http://schemas.openxmlformats.org/drawingml/2006/main">
            <a:r>
              <a:t>- https://owasp.org/API-Security/editions/2023/en/0xa1-broken-object-level-authorization/</a:t>
            </a:r>
          </a:p>
          <a:p xmlns:a="http://schemas.openxmlformats.org/drawingml/2006/main">
            <a:r>
              <a:t>- https://baomidou.com/en/plugins/data-permission/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这不是能力缺失，而是首期有意的 scope 限制。组织数据权限与多租户隔离是两件事。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https://cheatsheetseries.owasp.org/cheatsheets/Authorization_Cheat_Sheet.html</a:t>
            </a:r>
          </a:p>
          <a:p xmlns:a="http://schemas.openxmlformats.org/drawingml/2006/main">
            <a:r>
              <a:t>- https://baomidou.com/en/plugins/tenant/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迁移不机械地把一条 API 变成一个功能。先影子计算 old_allow 与 new_allow 的差异，解释清楚后再分批切换。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收口到三个决策：架构原则、样板模块、责任人。建议先用 CRM 客户列表贯通菜单包、功能码、资源映射与数据范围。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8d147fca4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a52ffdff254127" /><Relationship Type="http://schemas.openxmlformats.org/officeDocument/2006/relationships/slideLayout" Target="/ppt/slideLayouts/slideLayout1.xml" Id="R3ea3796b0cbc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3796b0cbc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4628785d84229" /><Relationship Type="http://schemas.openxmlformats.org/officeDocument/2006/relationships/notesSlide" Target="/ppt/notesSlides/notesSlide1.xml" Id="R51dc18afa3e5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b47171cb1494b" /><Relationship Type="http://schemas.openxmlformats.org/officeDocument/2006/relationships/image" Target="/ppt/media/image.png" Id="Rdbfecff35df64bca" /><Relationship Type="http://schemas.openxmlformats.org/officeDocument/2006/relationships/notesSlide" Target="/ppt/notesSlides/notesSlide2.xml" Id="R788eba57900a46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b37db314e4508" /><Relationship Type="http://schemas.openxmlformats.org/officeDocument/2006/relationships/notesSlide" Target="/ppt/notesSlides/notesSlide3.xml" Id="R1bfc7954336a42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daa6b7c0f4e5e" /><Relationship Type="http://schemas.openxmlformats.org/officeDocument/2006/relationships/notesSlide" Target="/ppt/notesSlides/notesSlide4.xml" Id="Radd520460d0748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345904073426e" /><Relationship Type="http://schemas.openxmlformats.org/officeDocument/2006/relationships/notesSlide" Target="/ppt/notesSlides/notesSlide5.xml" Id="R9c1209440efa4c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a6eb23db64a9f" /><Relationship Type="http://schemas.openxmlformats.org/officeDocument/2006/relationships/notesSlide" Target="/ppt/notesSlides/notesSlide6.xml" Id="R6f47b103817f49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052e47ea3411e" /><Relationship Type="http://schemas.openxmlformats.org/officeDocument/2006/relationships/notesSlide" Target="/ppt/notesSlides/notesSlide7.xml" Id="R026337479b2f44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86d79858648af" /><Relationship Type="http://schemas.openxmlformats.org/officeDocument/2006/relationships/notesSlide" Target="/ppt/notesSlides/notesSlide8.xml" Id="Rb3924c6d247e48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1f26603824a62" /><Relationship Type="http://schemas.openxmlformats.org/officeDocument/2006/relationships/notesSlide" Target="/ppt/notesSlides/notesSlide9.xml" Id="R5162df3bf1d242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eb8e37ecc4a47" /><Relationship Type="http://schemas.openxmlformats.org/officeDocument/2006/relationships/notesSlide" Target="/ppt/notesSlides/notesSlide10.xml" Id="R73258dfcb006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5429575-B8B8-4E90-9165-4D5A3E1C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企业中台管理系统 · 权限中心方案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E884E58-B92A-4AB5-AE8D-C2208E5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企业中台权限架构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让授权既好用，也真正安全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CB152FA-E8A1-4D41-BC3D-149A1858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529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38068EF-8D5D-4D97-BA0B-4FE6179E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149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角色负责复用 · 用户直授负责例外 · 组织与岗位负责数据边界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4E13F6AA-66C6-4D71-A2EB-E0238D77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架构评审 / 2026.08</a:t>
            </a:r>
          </a:p>
        </p:txBody>
      </p:sp>
    </p:spTree>
    <p:extLst>
      <p:ext uri="{BB962C8B-B14F-4D97-AF65-F5344CB8AC3E}">
        <p14:creationId xmlns:p14="http://schemas.microsoft.com/office/powerpoint/2010/main" val="601758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9F236016-8143-4995-97C7-28FD696B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现有方案安全可用，但授权语言太接近代码</a:t>
            </a:r>
          </a:p>
        </p:txBody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C6164BA6-1C5D-4A92-9523-FF93D565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A31BC812-D010-4EDB-996A-54E2D3BF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s2-kicker">
            <a:extLst xmlns:a="http://schemas.openxmlformats.org/drawingml/2006/main">
              <a:ext uri="{FF2B5EF4-FFF2-40B4-BE49-F238E27FC236}">
                <a16:creationId xmlns:a16="http://schemas.microsoft.com/office/drawing/2014/main" id="{39993F44-D281-499C-9897-34FD9BA7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一个标识，同时承担三件事</a:t>
            </a:r>
          </a:p>
        </p:txBody>
      </p:sp>
      <p:sp>
        <p:nvSpPr>
          <p:cNvPr id="5" name="s2-body">
            <a:extLst xmlns:a="http://schemas.openxmlformats.org/drawingml/2006/main">
              <a:ext uri="{FF2B5EF4-FFF2-40B4-BE49-F238E27FC236}">
                <a16:creationId xmlns:a16="http://schemas.microsoft.com/office/drawing/2014/main" id="{5F25C8B7-1961-4A8C-9F46-849FC7A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18000"/>
              </a:lnSpc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后端：</a:t>
            </a: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接口访问控制</a:t>
            </a:r>
          </a:p>
          <a:p xmlns:a="http://schemas.openxmlformats.org/drawingml/2006/main">
            <a:pPr marL="24" indent="-12" algn="l">
              <a:lnSpc>
                <a:spcPct val="118000"/>
              </a:lnSpc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前端：</a:t>
            </a: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路由与按钮显隐</a:t>
            </a:r>
          </a:p>
          <a:p xmlns:a="http://schemas.openxmlformats.org/drawingml/2006/main">
            <a:pPr marL="24" indent="-12" algn="l">
              <a:lnSpc>
                <a:spcPct val="118000"/>
              </a:lnSpc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管理员：</a:t>
            </a: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给人和角色做授权</a:t>
            </a:r>
          </a:p>
        </p:txBody>
      </p:sp>
      <p:sp>
        <p:nvSpPr>
          <p:cNvPr id="6" name="s2-conclusion">
            <a:extLst xmlns:a="http://schemas.openxmlformats.org/drawingml/2006/main">
              <a:ext uri="{FF2B5EF4-FFF2-40B4-BE49-F238E27FC236}">
                <a16:creationId xmlns:a16="http://schemas.microsoft.com/office/drawing/2014/main" id="{624EFE0F-DDE2-4805-BD3C-F21DB07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问题不在树形界面，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而在树上的叶子写着 GET /api/…</a:t>
            </a:r>
          </a:p>
        </p:txBody>
      </p:sp>
      <p:sp>
        <p:nvSpPr>
          <p:cNvPr id="7" name="s2-image-backing">
            <a:extLst xmlns:a="http://schemas.openxmlformats.org/drawingml/2006/main">
              <a:ext uri="{FF2B5EF4-FFF2-40B4-BE49-F238E27FC236}">
                <a16:creationId xmlns:a16="http://schemas.microsoft.com/office/drawing/2014/main" id="{FBC56896-04A8-43FD-9753-737DCE7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534025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ecff35df64bca"/>
          <a:stretch xmlns:a="http://schemas.openxmlformats.org/drawingml/2006/main"/>
        </p:blipFill>
        <p:spPr>
          <a:xfrm xmlns:a="http://schemas.openxmlformats.org/drawingml/2006/main">
            <a:off x="6381750" y="2052390"/>
            <a:ext cx="5305425" cy="3115171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9" name="s2-caption">
            <a:extLst xmlns:a="http://schemas.openxmlformats.org/drawingml/2006/main">
              <a:ext uri="{FF2B5EF4-FFF2-40B4-BE49-F238E27FC236}">
                <a16:creationId xmlns:a16="http://schemas.microsoft.com/office/drawing/2014/main" id="{0C1766AC-6698-4E93-BB18-94E96C05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树形交互可保留；节点语言需要改成业务功能。</a:t>
            </a:r>
          </a:p>
        </p:txBody>
      </p:sp>
    </p:spTree>
    <p:extLst>
      <p:ext uri="{BB962C8B-B14F-4D97-AF65-F5344CB8AC3E}">
        <p14:creationId xmlns:p14="http://schemas.microsoft.com/office/powerpoint/2010/main" val="2071192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B704E3B5-D847-494B-AA14-8426463C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新架构把“可理解”与“可执行”分成两层</a:t>
            </a:r>
          </a:p>
        </p:txBody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AD810D01-9778-46FD-8988-D643D91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3E415381-9BE1-4F71-8604-7D0153C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s3-thesis">
            <a:extLst xmlns:a="http://schemas.openxmlformats.org/drawingml/2006/main">
              <a:ext uri="{FF2B5EF4-FFF2-40B4-BE49-F238E27FC236}">
                <a16:creationId xmlns:a16="http://schemas.microsoft.com/office/drawing/2014/main" id="{4CB452FD-FC9D-4BEF-8E03-799B303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功能码稳定</a:t>
            </a: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，API 只是实现细节</a:t>
            </a:r>
          </a:p>
        </p:txBody>
      </p:sp>
      <p:sp>
        <p:nvSpPr>
          <p:cNvPr id="5" name="s3-num-01">
            <a:extLst xmlns:a="http://schemas.openxmlformats.org/drawingml/2006/main">
              <a:ext uri="{FF2B5EF4-FFF2-40B4-BE49-F238E27FC236}">
                <a16:creationId xmlns:a16="http://schemas.microsoft.com/office/drawing/2014/main" id="{8DBD32D1-51C9-4F1B-9457-E1468C1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766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3-head-01">
            <a:extLst xmlns:a="http://schemas.openxmlformats.org/drawingml/2006/main">
              <a:ext uri="{FF2B5EF4-FFF2-40B4-BE49-F238E27FC236}">
                <a16:creationId xmlns:a16="http://schemas.microsoft.com/office/drawing/2014/main" id="{56689A61-B9D9-4B9E-AECA-4B3790D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运营看功能</a:t>
            </a:r>
          </a:p>
        </p:txBody>
      </p:sp>
      <p:sp>
        <p:nvSpPr>
          <p:cNvPr id="7" name="s3-body-01">
            <a:extLst xmlns:a="http://schemas.openxmlformats.org/drawingml/2006/main">
              <a:ext uri="{FF2B5EF4-FFF2-40B4-BE49-F238E27FC236}">
                <a16:creationId xmlns:a16="http://schemas.microsoft.com/office/drawing/2014/main" id="{83DC00C6-4BC3-4683-81A9-1D20ED77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862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“查看客户”“导出客户”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名称稳定、可搜索、可解释</a:t>
            </a:r>
          </a:p>
        </p:txBody>
      </p:sp>
      <p:sp>
        <p:nvSpPr>
          <p:cNvPr id="8" name="s3-num-02">
            <a:extLst xmlns:a="http://schemas.openxmlformats.org/drawingml/2006/main">
              <a:ext uri="{FF2B5EF4-FFF2-40B4-BE49-F238E27FC236}">
                <a16:creationId xmlns:a16="http://schemas.microsoft.com/office/drawing/2014/main" id="{9A750D27-6EEA-407C-8B42-E833B65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766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3-head-02">
            <a:extLst xmlns:a="http://schemas.openxmlformats.org/drawingml/2006/main">
              <a:ext uri="{FF2B5EF4-FFF2-40B4-BE49-F238E27FC236}">
                <a16:creationId xmlns:a16="http://schemas.microsoft.com/office/drawing/2014/main" id="{034C7619-78F4-4DA8-983F-5ACC68D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766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系统映射资源</a:t>
            </a:r>
          </a:p>
        </p:txBody>
      </p:sp>
      <p:sp>
        <p:nvSpPr>
          <p:cNvPr id="10" name="s3-body-02">
            <a:extLst xmlns:a="http://schemas.openxmlformats.org/drawingml/2006/main">
              <a:ext uri="{FF2B5EF4-FFF2-40B4-BE49-F238E27FC236}">
                <a16:creationId xmlns:a16="http://schemas.microsoft.com/office/drawing/2014/main" id="{0E077567-6487-490B-8F70-923BA344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862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功能关联 API、服务方法、报表与任务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路径变化只更新映射</a:t>
            </a:r>
          </a:p>
        </p:txBody>
      </p:sp>
      <p:sp>
        <p:nvSpPr>
          <p:cNvPr id="11" name="s3-num-03">
            <a:extLst xmlns:a="http://schemas.openxmlformats.org/drawingml/2006/main">
              <a:ext uri="{FF2B5EF4-FFF2-40B4-BE49-F238E27FC236}">
                <a16:creationId xmlns:a16="http://schemas.microsoft.com/office/drawing/2014/main" id="{459B986F-A705-4FB5-8EAD-8E893B87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s3-head-03">
            <a:extLst xmlns:a="http://schemas.openxmlformats.org/drawingml/2006/main">
              <a:ext uri="{FF2B5EF4-FFF2-40B4-BE49-F238E27FC236}">
                <a16:creationId xmlns:a16="http://schemas.microsoft.com/office/drawing/2014/main" id="{185EC86B-CA05-4F14-91EC-F93109A3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766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后端真正守门</a:t>
            </a:r>
          </a:p>
        </p:txBody>
      </p:sp>
      <p:sp>
        <p:nvSpPr>
          <p:cNvPr id="13" name="s3-body-03">
            <a:extLst xmlns:a="http://schemas.openxmlformats.org/drawingml/2006/main">
              <a:ext uri="{FF2B5EF4-FFF2-40B4-BE49-F238E27FC236}">
                <a16:creationId xmlns:a16="http://schemas.microsoft.com/office/drawing/2014/main" id="{8F63D3B0-F5C8-47D2-BD96-9C54A6B9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862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每个请求校验功能或资源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再叠加对象级数据范围</a:t>
            </a:r>
          </a:p>
        </p:txBody>
      </p:sp>
      <p:sp>
        <p:nvSpPr>
          <p:cNvPr id="14" name="s3-footer-thesis">
            <a:extLst xmlns:a="http://schemas.openxmlformats.org/drawingml/2006/main">
              <a:ext uri="{FF2B5EF4-FFF2-40B4-BE49-F238E27FC236}">
                <a16:creationId xmlns:a16="http://schemas.microsoft.com/office/drawing/2014/main" id="{53E5B6CF-681D-445D-A1A3-94849ED2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前端负责“看起来正确”，后端负责“实际上安全”。</a:t>
            </a:r>
          </a:p>
        </p:txBody>
      </p:sp>
    </p:spTree>
    <p:extLst>
      <p:ext uri="{BB962C8B-B14F-4D97-AF65-F5344CB8AC3E}">
        <p14:creationId xmlns:p14="http://schemas.microsoft.com/office/powerpoint/2010/main" val="1809885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4">
            <a:extLst xmlns:a="http://schemas.openxmlformats.org/drawingml/2006/main">
              <a:ext uri="{FF2B5EF4-FFF2-40B4-BE49-F238E27FC236}">
                <a16:creationId xmlns:a16="http://schemas.microsoft.com/office/drawing/2014/main" id="{5170114D-08B9-4038-9402-59F6A6C7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角色仍是模板，用户直授只负责少量例外</a:t>
            </a:r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3BD5C12C-5E7C-4401-BFF5-5FF0393C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BE769BDA-FB1A-4BFB-9025-F60ECFC0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s4-formula">
            <a:extLst xmlns:a="http://schemas.openxmlformats.org/drawingml/2006/main">
              <a:ext uri="{FF2B5EF4-FFF2-40B4-BE49-F238E27FC236}">
                <a16:creationId xmlns:a16="http://schemas.microsoft.com/office/drawing/2014/main" id="{4245BCF7-5FDB-43FD-A1D9-F9C7A38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有效能力 = 角色授予 ∪ 用户直授 ∪ 菜单展开</a:t>
            </a:r>
          </a:p>
        </p:txBody>
      </p:sp>
      <p:sp>
        <p:nvSpPr>
          <p:cNvPr id="5" name="s4-intro">
            <a:extLst xmlns:a="http://schemas.openxmlformats.org/drawingml/2006/main">
              <a:ext uri="{FF2B5EF4-FFF2-40B4-BE49-F238E27FC236}">
                <a16:creationId xmlns:a16="http://schemas.microsoft.com/office/drawing/2014/main" id="{D98C7489-C92E-4ADA-86AF-CE519188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只做 ALLOW 加授，不引入用户 DENY；每一项权限都保留来源、原因与有效期。</a:t>
            </a:r>
          </a:p>
        </p:txBody>
      </p:sp>
      <p:sp>
        <p:nvSpPr>
          <p:cNvPr id="6" name="s4-left-panel">
            <a:extLst xmlns:a="http://schemas.openxmlformats.org/drawingml/2006/main">
              <a:ext uri="{FF2B5EF4-FFF2-40B4-BE49-F238E27FC236}">
                <a16:creationId xmlns:a16="http://schemas.microsoft.com/office/drawing/2014/main" id="{4B43543C-CD95-4495-B756-BC4AA09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553402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right-panel">
            <a:extLst xmlns:a="http://schemas.openxmlformats.org/drawingml/2006/main">
              <a:ext uri="{FF2B5EF4-FFF2-40B4-BE49-F238E27FC236}">
                <a16:creationId xmlns:a16="http://schemas.microsoft.com/office/drawing/2014/main" id="{EDBDCED1-A9C0-4A95-86A2-2DAD9AA2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33750"/>
            <a:ext cx="553402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DF362CF6-FEF9-408D-A42D-2B2C70FE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099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角色：批量复用</a:t>
            </a:r>
          </a:p>
        </p:txBody>
      </p:sp>
      <p:sp>
        <p:nvSpPr>
          <p:cNvPr id="9" name="s4-right-title">
            <a:extLst xmlns:a="http://schemas.openxmlformats.org/drawingml/2006/main">
              <a:ext uri="{FF2B5EF4-FFF2-40B4-BE49-F238E27FC236}">
                <a16:creationId xmlns:a16="http://schemas.microsoft.com/office/drawing/2014/main" id="{8B2F49C4-070D-4C9A-ACD2-55CD6324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99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用户：显式加授</a:t>
            </a:r>
          </a:p>
        </p:txBody>
      </p:sp>
      <p:sp>
        <p:nvSpPr>
          <p:cNvPr id="10" name="s4-left-detail">
            <a:extLst xmlns:a="http://schemas.openxmlformats.org/drawingml/2006/main">
              <a:ext uri="{FF2B5EF4-FFF2-40B4-BE49-F238E27FC236}">
                <a16:creationId xmlns:a16="http://schemas.microsoft.com/office/drawing/2014/main" id="{37A601EF-1E9F-4B38-8E9B-4F32572B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149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销售专员、采购主管、设计审核员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稳定职责集中维护，变更一次即可复用</a:t>
            </a:r>
          </a:p>
        </p:txBody>
      </p:sp>
      <p:sp>
        <p:nvSpPr>
          <p:cNvPr id="11" name="s4-right-detail">
            <a:extLst xmlns:a="http://schemas.openxmlformats.org/drawingml/2006/main">
              <a:ext uri="{FF2B5EF4-FFF2-40B4-BE49-F238E27FC236}">
                <a16:creationId xmlns:a16="http://schemas.microsoft.com/office/drawing/2014/main" id="{FAAD2080-5C7D-43AB-B458-FB577007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临时导出、跨部门支援、短期项目例外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强制写原因；敏感能力建议设置到期时间</a:t>
            </a:r>
          </a:p>
        </p:txBody>
      </p:sp>
    </p:spTree>
    <p:extLst>
      <p:ext uri="{BB962C8B-B14F-4D97-AF65-F5344CB8AC3E}">
        <p14:creationId xmlns:p14="http://schemas.microsoft.com/office/powerpoint/2010/main" val="64913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5">
            <a:extLst xmlns:a="http://schemas.openxmlformats.org/drawingml/2006/main">
              <a:ext uri="{FF2B5EF4-FFF2-40B4-BE49-F238E27FC236}">
                <a16:creationId xmlns:a16="http://schemas.microsoft.com/office/drawing/2014/main" id="{F8FF8911-4B4A-411C-85EB-7D2637B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五个对象只有一种职责，不再互相冒充</a:t>
            </a:r>
          </a:p>
        </p:txBody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1AF7FA92-BA97-41F2-8CE6-0BA53BF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CCC44493-AFDD-4C46-A95D-7F3C168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s5-v-rule">
            <a:extLst xmlns:a="http://schemas.openxmlformats.org/drawingml/2006/main">
              <a:ext uri="{FF2B5EF4-FFF2-40B4-BE49-F238E27FC236}">
                <a16:creationId xmlns:a16="http://schemas.microsoft.com/office/drawing/2014/main" id="{921841FA-51B8-4DE4-B20D-0DE7CB46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5-h-rule">
            <a:extLst xmlns:a="http://schemas.openxmlformats.org/drawingml/2006/main">
              <a:ext uri="{FF2B5EF4-FFF2-40B4-BE49-F238E27FC236}">
                <a16:creationId xmlns:a16="http://schemas.microsoft.com/office/drawing/2014/main" id="{F92F0B45-82D8-417F-9C97-B94582F2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head-0">
            <a:extLst xmlns:a="http://schemas.openxmlformats.org/drawingml/2006/main">
              <a:ext uri="{FF2B5EF4-FFF2-40B4-BE49-F238E27FC236}">
                <a16:creationId xmlns:a16="http://schemas.microsoft.com/office/drawing/2014/main" id="{AC232885-D22F-4509-A5D2-2F4F6F7F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7" name="s5-body-0">
            <a:extLst xmlns:a="http://schemas.openxmlformats.org/drawingml/2006/main">
              <a:ext uri="{FF2B5EF4-FFF2-40B4-BE49-F238E27FC236}">
                <a16:creationId xmlns:a16="http://schemas.microsoft.com/office/drawing/2014/main" id="{0EDA3A7E-C214-46BF-8EE5-AFE2BCA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具体登录主体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承接角色，也可承接少量直接加授</a:t>
            </a:r>
          </a:p>
        </p:txBody>
      </p:sp>
      <p:sp>
        <p:nvSpPr>
          <p:cNvPr id="8" name="s5-head-1">
            <a:extLst xmlns:a="http://schemas.openxmlformats.org/drawingml/2006/main">
              <a:ext uri="{FF2B5EF4-FFF2-40B4-BE49-F238E27FC236}">
                <a16:creationId xmlns:a16="http://schemas.microsoft.com/office/drawing/2014/main" id="{C0D1158D-0042-4453-85AF-69B299CA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9" name="s5-body-1">
            <a:extLst xmlns:a="http://schemas.openxmlformats.org/drawingml/2006/main">
              <a:ext uri="{FF2B5EF4-FFF2-40B4-BE49-F238E27FC236}">
                <a16:creationId xmlns:a16="http://schemas.microsoft.com/office/drawing/2014/main" id="{C87A9002-6BD0-422D-BDA3-59689850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可复用权限模板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不代表组织上下级，也不自动带全量数据</a:t>
            </a:r>
          </a:p>
        </p:txBody>
      </p:sp>
      <p:sp>
        <p:nvSpPr>
          <p:cNvPr id="10" name="s5-head-2">
            <a:extLst xmlns:a="http://schemas.openxmlformats.org/drawingml/2006/main">
              <a:ext uri="{FF2B5EF4-FFF2-40B4-BE49-F238E27FC236}">
                <a16:creationId xmlns:a16="http://schemas.microsoft.com/office/drawing/2014/main" id="{183C67BE-F3F9-4F26-AD06-60A1F35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11" name="s5-body-2">
            <a:extLst xmlns:a="http://schemas.openxmlformats.org/drawingml/2006/main">
              <a:ext uri="{FF2B5EF4-FFF2-40B4-BE49-F238E27FC236}">
                <a16:creationId xmlns:a16="http://schemas.microsoft.com/office/drawing/2014/main" id="{8B2D82D8-CC52-4519-AB61-3B8ABAA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面向业务的稳定动作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例如 crm.customer.export / 导出客户</a:t>
            </a:r>
          </a:p>
        </p:txBody>
      </p:sp>
      <p:sp>
        <p:nvSpPr>
          <p:cNvPr id="12" name="s5-head-3">
            <a:extLst xmlns:a="http://schemas.openxmlformats.org/drawingml/2006/main">
              <a:ext uri="{FF2B5EF4-FFF2-40B4-BE49-F238E27FC236}">
                <a16:creationId xmlns:a16="http://schemas.microsoft.com/office/drawing/2014/main" id="{FE39EE6B-91F8-45F9-88D3-E938A60A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资源 / 菜单</a:t>
            </a:r>
          </a:p>
        </p:txBody>
      </p:sp>
      <p:sp>
        <p:nvSpPr>
          <p:cNvPr id="13" name="s5-body-3">
            <a:extLst xmlns:a="http://schemas.openxmlformats.org/drawingml/2006/main">
              <a:ext uri="{FF2B5EF4-FFF2-40B4-BE49-F238E27FC236}">
                <a16:creationId xmlns:a16="http://schemas.microsoft.com/office/drawing/2014/main" id="{0B33D4C9-F5D0-4AE8-B4D7-C57FDF21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资源是 API、服务、报表等执行点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菜单负责导航，并把 CORE 能力打成权限包</a:t>
            </a:r>
          </a:p>
        </p:txBody>
      </p:sp>
    </p:spTree>
    <p:extLst>
      <p:ext uri="{BB962C8B-B14F-4D97-AF65-F5344CB8AC3E}">
        <p14:creationId xmlns:p14="http://schemas.microsoft.com/office/powerpoint/2010/main" val="550443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6">
            <a:extLst xmlns:a="http://schemas.openxmlformats.org/drawingml/2006/main">
              <a:ext uri="{FF2B5EF4-FFF2-40B4-BE49-F238E27FC236}">
                <a16:creationId xmlns:a16="http://schemas.microsoft.com/office/drawing/2014/main" id="{B161FCC6-E79D-464D-AB5F-02F59EE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一次授权要经过配置、计算、校验和留痕</a:t>
            </a:r>
          </a:p>
        </p:txBody>
      </p:sp>
      <p:sp>
        <p:nvSpPr>
          <p:cNvPr id="2" name="accent-6">
            <a:extLst xmlns:a="http://schemas.openxmlformats.org/drawingml/2006/main">
              <a:ext uri="{FF2B5EF4-FFF2-40B4-BE49-F238E27FC236}">
                <a16:creationId xmlns:a16="http://schemas.microsoft.com/office/drawing/2014/main" id="{8FFAD940-4472-40AB-850B-3D612786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B04BAF22-3EC6-4CDE-84D2-DFF013F1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s6-seq-line">
            <a:extLst xmlns:a="http://schemas.openxmlformats.org/drawingml/2006/main">
              <a:ext uri="{FF2B5EF4-FFF2-40B4-BE49-F238E27FC236}">
                <a16:creationId xmlns:a16="http://schemas.microsoft.com/office/drawing/2014/main" id="{AA422AD3-5F8D-4F65-9BF8-A001388E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seq-dot-0">
            <a:extLst xmlns:a="http://schemas.openxmlformats.org/drawingml/2006/main">
              <a:ext uri="{FF2B5EF4-FFF2-40B4-BE49-F238E27FC236}">
                <a16:creationId xmlns:a16="http://schemas.microsoft.com/office/drawing/2014/main" id="{84DAF1AA-6248-49D9-A6CB-13A9F0F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seq-0">
            <a:extLst xmlns:a="http://schemas.openxmlformats.org/drawingml/2006/main">
              <a:ext uri="{FF2B5EF4-FFF2-40B4-BE49-F238E27FC236}">
                <a16:creationId xmlns:a16="http://schemas.microsoft.com/office/drawing/2014/main" id="{80874285-FD02-4A10-B36C-A9E399A3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47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  配置</a:t>
            </a:r>
          </a:p>
        </p:txBody>
      </p:sp>
      <p:sp>
        <p:nvSpPr>
          <p:cNvPr id="7" name="s6-seq-dot-1">
            <a:extLst xmlns:a="http://schemas.openxmlformats.org/drawingml/2006/main">
              <a:ext uri="{FF2B5EF4-FFF2-40B4-BE49-F238E27FC236}">
                <a16:creationId xmlns:a16="http://schemas.microsoft.com/office/drawing/2014/main" id="{F1A4FAD3-4BA0-4DFF-AD37-A09F6382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6-seq-1">
            <a:extLst xmlns:a="http://schemas.openxmlformats.org/drawingml/2006/main">
              <a:ext uri="{FF2B5EF4-FFF2-40B4-BE49-F238E27FC236}">
                <a16:creationId xmlns:a16="http://schemas.microsoft.com/office/drawing/2014/main" id="{341574F9-CFCB-489A-8136-8B45F663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47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  展开</a:t>
            </a:r>
          </a:p>
        </p:txBody>
      </p:sp>
      <p:sp>
        <p:nvSpPr>
          <p:cNvPr id="9" name="s6-seq-dot-2">
            <a:extLst xmlns:a="http://schemas.openxmlformats.org/drawingml/2006/main">
              <a:ext uri="{FF2B5EF4-FFF2-40B4-BE49-F238E27FC236}">
                <a16:creationId xmlns:a16="http://schemas.microsoft.com/office/drawing/2014/main" id="{6106ABB9-1586-49EA-906E-1921CE95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seq-2">
            <a:extLst xmlns:a="http://schemas.openxmlformats.org/drawingml/2006/main">
              <a:ext uri="{FF2B5EF4-FFF2-40B4-BE49-F238E27FC236}">
                <a16:creationId xmlns:a16="http://schemas.microsoft.com/office/drawing/2014/main" id="{5AAEDE98-120D-4E50-B601-44A86E60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 合并</a:t>
            </a:r>
          </a:p>
        </p:txBody>
      </p:sp>
      <p:sp>
        <p:nvSpPr>
          <p:cNvPr id="11" name="s6-seq-dot-3">
            <a:extLst xmlns:a="http://schemas.openxmlformats.org/drawingml/2006/main">
              <a:ext uri="{FF2B5EF4-FFF2-40B4-BE49-F238E27FC236}">
                <a16:creationId xmlns:a16="http://schemas.microsoft.com/office/drawing/2014/main" id="{0AA6B9F0-EB78-4C3E-86F0-F2BD46C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6-seq-3">
            <a:extLst xmlns:a="http://schemas.openxmlformats.org/drawingml/2006/main">
              <a:ext uri="{FF2B5EF4-FFF2-40B4-BE49-F238E27FC236}">
                <a16:creationId xmlns:a16="http://schemas.microsoft.com/office/drawing/2014/main" id="{D169134D-BF07-41FD-847F-46349CF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  后端校验</a:t>
            </a:r>
          </a:p>
        </p:txBody>
      </p:sp>
      <p:sp>
        <p:nvSpPr>
          <p:cNvPr id="13" name="s6-seq-dot-4">
            <a:extLst xmlns:a="http://schemas.openxmlformats.org/drawingml/2006/main">
              <a:ext uri="{FF2B5EF4-FFF2-40B4-BE49-F238E27FC236}">
                <a16:creationId xmlns:a16="http://schemas.microsoft.com/office/drawing/2014/main" id="{EA04F61C-F861-4E5C-8FFC-5D176F1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6-seq-4">
            <a:extLst xmlns:a="http://schemas.openxmlformats.org/drawingml/2006/main">
              <a:ext uri="{FF2B5EF4-FFF2-40B4-BE49-F238E27FC236}">
                <a16:creationId xmlns:a16="http://schemas.microsoft.com/office/drawing/2014/main" id="{197EB144-5945-4304-9EF6-793BB756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  数据过滤</a:t>
            </a:r>
          </a:p>
        </p:txBody>
      </p:sp>
      <p:sp>
        <p:nvSpPr>
          <p:cNvPr id="15" name="s6-seq-dot-5">
            <a:extLst xmlns:a="http://schemas.openxmlformats.org/drawingml/2006/main">
              <a:ext uri="{FF2B5EF4-FFF2-40B4-BE49-F238E27FC236}">
                <a16:creationId xmlns:a16="http://schemas.microsoft.com/office/drawing/2014/main" id="{3F5C3F5B-AEBF-4CF6-BADF-32524605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seq-5">
            <a:extLst xmlns:a="http://schemas.openxmlformats.org/drawingml/2006/main">
              <a:ext uri="{FF2B5EF4-FFF2-40B4-BE49-F238E27FC236}">
                <a16:creationId xmlns:a16="http://schemas.microsoft.com/office/drawing/2014/main" id="{F19986BC-1559-442E-9E88-2684AEA0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478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  审计</a:t>
            </a:r>
          </a:p>
        </p:txBody>
      </p:sp>
      <p:sp>
        <p:nvSpPr>
          <p:cNvPr id="17" name="s6-main-line">
            <a:extLst xmlns:a="http://schemas.openxmlformats.org/drawingml/2006/main">
              <a:ext uri="{FF2B5EF4-FFF2-40B4-BE49-F238E27FC236}">
                <a16:creationId xmlns:a16="http://schemas.microsoft.com/office/drawing/2014/main" id="{CB3A3316-130D-498B-8C46-C563F4E0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main-dot-0">
            <a:extLst xmlns:a="http://schemas.openxmlformats.org/drawingml/2006/main">
              <a:ext uri="{FF2B5EF4-FFF2-40B4-BE49-F238E27FC236}">
                <a16:creationId xmlns:a16="http://schemas.microsoft.com/office/drawing/2014/main" id="{3DD4DB17-420A-42B5-B1E4-92273C57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main-label-0">
            <a:extLst xmlns:a="http://schemas.openxmlformats.org/drawingml/2006/main">
              <a:ext uri="{FF2B5EF4-FFF2-40B4-BE49-F238E27FC236}">
                <a16:creationId xmlns:a16="http://schemas.microsoft.com/office/drawing/2014/main" id="{38C3E0F0-7785-4482-B6FA-8D09187B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授权入口</a:t>
            </a:r>
          </a:p>
        </p:txBody>
      </p:sp>
      <p:sp>
        <p:nvSpPr>
          <p:cNvPr id="20" name="s6-main-head-0">
            <a:extLst xmlns:a="http://schemas.openxmlformats.org/drawingml/2006/main">
              <a:ext uri="{FF2B5EF4-FFF2-40B4-BE49-F238E27FC236}">
                <a16:creationId xmlns:a16="http://schemas.microsoft.com/office/drawing/2014/main" id="{4687A1D4-6139-419F-9471-077B526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选角色 / 用户加授</a:t>
            </a:r>
          </a:p>
        </p:txBody>
      </p:sp>
      <p:sp>
        <p:nvSpPr>
          <p:cNvPr id="21" name="s6-main-body-0">
            <a:extLst xmlns:a="http://schemas.openxmlformats.org/drawingml/2006/main">
              <a:ext uri="{FF2B5EF4-FFF2-40B4-BE49-F238E27FC236}">
                <a16:creationId xmlns:a16="http://schemas.microsoft.com/office/drawing/2014/main" id="{E0CCF2C1-94C9-42BF-9A02-E2C507D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菜单展开 CORE 能力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OPTIONAL 与高风险动作单独勾选</a:t>
            </a:r>
          </a:p>
        </p:txBody>
      </p:sp>
      <p:sp>
        <p:nvSpPr>
          <p:cNvPr id="22" name="s6-main-dot-1">
            <a:extLst xmlns:a="http://schemas.openxmlformats.org/drawingml/2006/main">
              <a:ext uri="{FF2B5EF4-FFF2-40B4-BE49-F238E27FC236}">
                <a16:creationId xmlns:a16="http://schemas.microsoft.com/office/drawing/2014/main" id="{3C3B9C2B-6A31-4787-B959-BEDD80D6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09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6-main-label-1">
            <a:extLst xmlns:a="http://schemas.openxmlformats.org/drawingml/2006/main">
              <a:ext uri="{FF2B5EF4-FFF2-40B4-BE49-F238E27FC236}">
                <a16:creationId xmlns:a16="http://schemas.microsoft.com/office/drawing/2014/main" id="{ABD270C2-62CF-4D91-819D-AF2A668A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24" name="s6-main-head-1">
            <a:extLst xmlns:a="http://schemas.openxmlformats.org/drawingml/2006/main">
              <a:ext uri="{FF2B5EF4-FFF2-40B4-BE49-F238E27FC236}">
                <a16:creationId xmlns:a16="http://schemas.microsoft.com/office/drawing/2014/main" id="{0A93452D-76E9-48A9-AAA2-AF286C37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95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能力并集 + 数据范围</a:t>
            </a:r>
          </a:p>
        </p:txBody>
      </p:sp>
      <p:sp>
        <p:nvSpPr>
          <p:cNvPr id="25" name="s6-main-body-1">
            <a:extLst xmlns:a="http://schemas.openxmlformats.org/drawingml/2006/main">
              <a:ext uri="{FF2B5EF4-FFF2-40B4-BE49-F238E27FC236}">
                <a16:creationId xmlns:a16="http://schemas.microsoft.com/office/drawing/2014/main" id="{7EE889D7-2EEF-49CA-BB49-EB4628A6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672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功能或资源先通过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再与当前对象的数据范围做 AND</a:t>
            </a:r>
          </a:p>
        </p:txBody>
      </p:sp>
      <p:sp>
        <p:nvSpPr>
          <p:cNvPr id="26" name="s6-main-dot-2">
            <a:extLst xmlns:a="http://schemas.openxmlformats.org/drawingml/2006/main">
              <a:ext uri="{FF2B5EF4-FFF2-40B4-BE49-F238E27FC236}">
                <a16:creationId xmlns:a16="http://schemas.microsoft.com/office/drawing/2014/main" id="{7BFA9268-9639-4DB5-9F6A-0E511316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9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6-main-label-2">
            <a:extLst xmlns:a="http://schemas.openxmlformats.org/drawingml/2006/main">
              <a:ext uri="{FF2B5EF4-FFF2-40B4-BE49-F238E27FC236}">
                <a16:creationId xmlns:a16="http://schemas.microsoft.com/office/drawing/2014/main" id="{1EBEB03D-D9D0-47D4-863C-FB0A1370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变更后</a:t>
            </a:r>
          </a:p>
        </p:txBody>
      </p:sp>
      <p:sp>
        <p:nvSpPr>
          <p:cNvPr id="28" name="s6-main-head-2">
            <a:extLst xmlns:a="http://schemas.openxmlformats.org/drawingml/2006/main">
              <a:ext uri="{FF2B5EF4-FFF2-40B4-BE49-F238E27FC236}">
                <a16:creationId xmlns:a16="http://schemas.microsoft.com/office/drawing/2014/main" id="{84F2214F-C1EB-423D-B6FE-833C85C7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来源可解释、缓存可失效</a:t>
            </a:r>
          </a:p>
        </p:txBody>
      </p:sp>
      <p:sp>
        <p:nvSpPr>
          <p:cNvPr id="29" name="s6-main-body-2">
            <a:extLst xmlns:a="http://schemas.openxmlformats.org/drawingml/2006/main">
              <a:ext uri="{FF2B5EF4-FFF2-40B4-BE49-F238E27FC236}">
                <a16:creationId xmlns:a16="http://schemas.microsoft.com/office/drawing/2014/main" id="{D5BCC462-CD6C-42BA-9FAF-826E87F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672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记录差异与授权链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提升 policyVersion 并刷新前端</a:t>
            </a:r>
          </a:p>
        </p:txBody>
      </p:sp>
      <p:sp>
        <p:nvSpPr>
          <p:cNvPr id="30" name="s6-safety">
            <a:extLst xmlns:a="http://schemas.openxmlformats.org/drawingml/2006/main">
              <a:ext uri="{FF2B5EF4-FFF2-40B4-BE49-F238E27FC236}">
                <a16:creationId xmlns:a16="http://schemas.microsoft.com/office/drawing/2014/main" id="{75B19EBF-F862-465F-83F2-FA1D91E3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97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父节点保存“本次叶子集合”，新增子菜单不会自动扩权。</a:t>
            </a:r>
          </a:p>
        </p:txBody>
      </p:sp>
    </p:spTree>
    <p:extLst>
      <p:ext uri="{BB962C8B-B14F-4D97-AF65-F5344CB8AC3E}">
        <p14:creationId xmlns:p14="http://schemas.microsoft.com/office/powerpoint/2010/main" val="1613848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019A274B-FAC6-40A9-8967-03074D9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数据权限由岗位与数据域决定，可见范围不随角色漂移</a:t>
            </a:r>
          </a:p>
        </p:txBody>
      </p:sp>
      <p:sp>
        <p:nvSpPr>
          <p:cNvPr id="2" name="accent-7">
            <a:extLst xmlns:a="http://schemas.openxmlformats.org/drawingml/2006/main">
              <a:ext uri="{FF2B5EF4-FFF2-40B4-BE49-F238E27FC236}">
                <a16:creationId xmlns:a16="http://schemas.microsoft.com/office/drawing/2014/main" id="{C00B65FF-E17C-4F53-BFD9-A28E1B93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3C7BB761-2268-486D-9E40-259DC49B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s7-timeline">
            <a:extLst xmlns:a="http://schemas.openxmlformats.org/drawingml/2006/main">
              <a:ext uri="{FF2B5EF4-FFF2-40B4-BE49-F238E27FC236}">
                <a16:creationId xmlns:a16="http://schemas.microsoft.com/office/drawing/2014/main" id="{234458C0-FC9A-4190-9097-5FF2E393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530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card-0">
            <a:extLst xmlns:a="http://schemas.openxmlformats.org/drawingml/2006/main">
              <a:ext uri="{FF2B5EF4-FFF2-40B4-BE49-F238E27FC236}">
                <a16:creationId xmlns:a16="http://schemas.microsoft.com/office/drawing/2014/main" id="{74EB0A07-6639-4E3C-84BB-79968486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357187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n-0">
            <a:extLst xmlns:a="http://schemas.openxmlformats.org/drawingml/2006/main">
              <a:ext uri="{FF2B5EF4-FFF2-40B4-BE49-F238E27FC236}">
                <a16:creationId xmlns:a16="http://schemas.microsoft.com/office/drawing/2014/main" id="{FDC28C8D-93F1-4BB7-80B4-74909304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7-h-0">
            <a:extLst xmlns:a="http://schemas.openxmlformats.org/drawingml/2006/main">
              <a:ext uri="{FF2B5EF4-FFF2-40B4-BE49-F238E27FC236}">
                <a16:creationId xmlns:a16="http://schemas.microsoft.com/office/drawing/2014/main" id="{9315137A-8A7E-46C2-8F36-63804797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098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任职上下文</a:t>
            </a:r>
          </a:p>
        </p:txBody>
      </p:sp>
      <p:sp>
        <p:nvSpPr>
          <p:cNvPr id="8" name="s7-b-0">
            <a:extLst xmlns:a="http://schemas.openxmlformats.org/drawingml/2006/main">
              <a:ext uri="{FF2B5EF4-FFF2-40B4-BE49-F238E27FC236}">
                <a16:creationId xmlns:a16="http://schemas.microsoft.com/office/drawing/2014/main" id="{4B59D8F8-395F-4E31-AC4A-E28A77C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765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用户在某部门担任某岗位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主任职与兼任分别展开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部门树只提供上下级关系</a:t>
            </a:r>
          </a:p>
        </p:txBody>
      </p:sp>
      <p:sp>
        <p:nvSpPr>
          <p:cNvPr id="9" name="s7-dot-0">
            <a:extLst xmlns:a="http://schemas.openxmlformats.org/drawingml/2006/main">
              <a:ext uri="{FF2B5EF4-FFF2-40B4-BE49-F238E27FC236}">
                <a16:creationId xmlns:a16="http://schemas.microsoft.com/office/drawing/2014/main" id="{BC16B134-7FD9-4B32-A671-B807BCEC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86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label-0">
            <a:extLst xmlns:a="http://schemas.openxmlformats.org/drawingml/2006/main">
              <a:ext uri="{FF2B5EF4-FFF2-40B4-BE49-F238E27FC236}">
                <a16:creationId xmlns:a16="http://schemas.microsoft.com/office/drawing/2014/main" id="{E60614EC-5D23-4CB6-8852-1504F8D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部门树</a:t>
            </a:r>
          </a:p>
        </p:txBody>
      </p:sp>
      <p:sp>
        <p:nvSpPr>
          <p:cNvPr id="11" name="s7-card-1">
            <a:extLst xmlns:a="http://schemas.openxmlformats.org/drawingml/2006/main">
              <a:ext uri="{FF2B5EF4-FFF2-40B4-BE49-F238E27FC236}">
                <a16:creationId xmlns:a16="http://schemas.microsoft.com/office/drawing/2014/main" id="{5B63E4BA-031F-4A3B-B412-421704B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04950"/>
            <a:ext cx="357187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7-n-1">
            <a:extLst xmlns:a="http://schemas.openxmlformats.org/drawingml/2006/main">
              <a:ext uri="{FF2B5EF4-FFF2-40B4-BE49-F238E27FC236}">
                <a16:creationId xmlns:a16="http://schemas.microsoft.com/office/drawing/2014/main" id="{F45313C9-4066-4757-A563-E7B210D2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811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7-h-1">
            <a:extLst xmlns:a="http://schemas.openxmlformats.org/drawingml/2006/main">
              <a:ext uri="{FF2B5EF4-FFF2-40B4-BE49-F238E27FC236}">
                <a16:creationId xmlns:a16="http://schemas.microsoft.com/office/drawing/2014/main" id="{046B5A74-2EA9-4A0C-A6E4-E8C5A529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98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固定范围</a:t>
            </a:r>
          </a:p>
        </p:txBody>
      </p:sp>
      <p:sp>
        <p:nvSpPr>
          <p:cNvPr id="14" name="s7-b-1">
            <a:extLst xmlns:a="http://schemas.openxmlformats.org/drawingml/2006/main">
              <a:ext uri="{FF2B5EF4-FFF2-40B4-BE49-F238E27FC236}">
                <a16:creationId xmlns:a16="http://schemas.microsoft.com/office/drawing/2014/main" id="{8AD0247E-E463-4222-B220-3E68E85C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NONE / 本人 / 本部门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本部门及下级 / 指定部门 / 全部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策略按岗位 + 数据域配置</a:t>
            </a:r>
          </a:p>
        </p:txBody>
      </p:sp>
      <p:sp>
        <p:nvSpPr>
          <p:cNvPr id="15" name="s7-dot-1">
            <a:extLst xmlns:a="http://schemas.openxmlformats.org/drawingml/2006/main">
              <a:ext uri="{FF2B5EF4-FFF2-40B4-BE49-F238E27FC236}">
                <a16:creationId xmlns:a16="http://schemas.microsoft.com/office/drawing/2014/main" id="{74E127B5-6CD3-4142-B58A-6AC7A477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286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7-label-1">
            <a:extLst xmlns:a="http://schemas.openxmlformats.org/drawingml/2006/main">
              <a:ext uri="{FF2B5EF4-FFF2-40B4-BE49-F238E27FC236}">
                <a16:creationId xmlns:a16="http://schemas.microsoft.com/office/drawing/2014/main" id="{8EA041C1-C3D0-4E23-8DF1-B52CFCA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19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岗位策略</a:t>
            </a:r>
          </a:p>
        </p:txBody>
      </p:sp>
      <p:sp>
        <p:nvSpPr>
          <p:cNvPr id="17" name="s7-card-2">
            <a:extLst xmlns:a="http://schemas.openxmlformats.org/drawingml/2006/main">
              <a:ext uri="{FF2B5EF4-FFF2-40B4-BE49-F238E27FC236}">
                <a16:creationId xmlns:a16="http://schemas.microsoft.com/office/drawing/2014/main" id="{85A746B8-4D1C-47F6-A70F-94D19374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04950"/>
            <a:ext cx="357187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7-n-2">
            <a:extLst xmlns:a="http://schemas.openxmlformats.org/drawingml/2006/main">
              <a:ext uri="{FF2B5EF4-FFF2-40B4-BE49-F238E27FC236}">
                <a16:creationId xmlns:a16="http://schemas.microsoft.com/office/drawing/2014/main" id="{334F5733-1307-4212-989A-64E319BE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811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s7-h-2">
            <a:extLst xmlns:a="http://schemas.openxmlformats.org/drawingml/2006/main">
              <a:ext uri="{FF2B5EF4-FFF2-40B4-BE49-F238E27FC236}">
                <a16:creationId xmlns:a16="http://schemas.microsoft.com/office/drawing/2014/main" id="{E06D8881-AF04-48D2-80B8-22A4D65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对象级过滤</a:t>
            </a:r>
          </a:p>
        </p:txBody>
      </p:sp>
      <p:sp>
        <p:nvSpPr>
          <p:cNvPr id="20" name="s7-b-2">
            <a:extLst xmlns:a="http://schemas.openxmlformats.org/drawingml/2006/main">
              <a:ext uri="{FF2B5EF4-FFF2-40B4-BE49-F238E27FC236}">
                <a16:creationId xmlns:a16="http://schemas.microsoft.com/office/drawing/2014/main" id="{4C7546D9-9049-4024-9A7A-B745208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765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多任职范围取并集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列表、详情、更新、删除、导出统一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最终：能力 AND 数据范围</a:t>
            </a:r>
          </a:p>
        </p:txBody>
      </p:sp>
      <p:sp>
        <p:nvSpPr>
          <p:cNvPr id="21" name="s7-dot-2">
            <a:extLst xmlns:a="http://schemas.openxmlformats.org/drawingml/2006/main">
              <a:ext uri="{FF2B5EF4-FFF2-40B4-BE49-F238E27FC236}">
                <a16:creationId xmlns:a16="http://schemas.microsoft.com/office/drawing/2014/main" id="{980CB286-4589-4D67-9820-B7B8051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86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7-label-2">
            <a:extLst xmlns:a="http://schemas.openxmlformats.org/drawingml/2006/main">
              <a:ext uri="{FF2B5EF4-FFF2-40B4-BE49-F238E27FC236}">
                <a16:creationId xmlns:a16="http://schemas.microsoft.com/office/drawing/2014/main" id="{E4FBC44C-4C91-45CA-A5CA-9A1B3E0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19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数据域过滤</a:t>
            </a:r>
          </a:p>
        </p:txBody>
      </p:sp>
    </p:spTree>
    <p:extLst>
      <p:ext uri="{BB962C8B-B14F-4D97-AF65-F5344CB8AC3E}">
        <p14:creationId xmlns:p14="http://schemas.microsoft.com/office/powerpoint/2010/main" val="750191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8">
            <a:extLst xmlns:a="http://schemas.openxmlformats.org/drawingml/2006/main">
              <a:ext uri="{FF2B5EF4-FFF2-40B4-BE49-F238E27FC236}">
                <a16:creationId xmlns:a16="http://schemas.microsoft.com/office/drawing/2014/main" id="{68E0C3F7-405D-47A0-A6E1-CC60A521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小企业首期靠清晰边界降低长期治理成本</a:t>
            </a:r>
          </a:p>
        </p:txBody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AE2E2AF9-D57F-4E1A-A48D-5E630F5F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4B882E61-AC35-49A5-8FF5-1E7987DD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s8-thesis">
            <a:extLst xmlns:a="http://schemas.openxmlformats.org/drawingml/2006/main">
              <a:ext uri="{FF2B5EF4-FFF2-40B4-BE49-F238E27FC236}">
                <a16:creationId xmlns:a16="http://schemas.microsoft.com/office/drawing/2014/main" id="{B2012962-8B62-4421-983B-439CFD2B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先把常见授权场景做稳，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再按真实需求增加复杂度。</a:t>
            </a:r>
          </a:p>
        </p:txBody>
      </p:sp>
      <p:sp>
        <p:nvSpPr>
          <p:cNvPr id="5" name="s8-no-title">
            <a:extLst xmlns:a="http://schemas.openxmlformats.org/drawingml/2006/main">
              <a:ext uri="{FF2B5EF4-FFF2-40B4-BE49-F238E27FC236}">
                <a16:creationId xmlns:a16="http://schemas.microsoft.com/office/drawing/2014/main" id="{3D4FE5CD-0C9E-46A7-AFE8-DC3BCA0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67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MVP 明确不做</a:t>
            </a:r>
          </a:p>
        </p:txBody>
      </p:sp>
      <p:sp>
        <p:nvSpPr>
          <p:cNvPr id="6" name="s8-no-list">
            <a:extLst xmlns:a="http://schemas.openxmlformats.org/drawingml/2006/main">
              <a:ext uri="{FF2B5EF4-FFF2-40B4-BE49-F238E27FC236}">
                <a16:creationId xmlns:a16="http://schemas.microsoft.com/office/drawing/2014/main" id="{E93AEAA8-BC1A-4688-B1CD-57D7B7AF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5334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多租户 / tenant_id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角色继承与嵌套角色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用户显式 DENY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通用 ABAC / 任意 SQL 表达式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字段级授权与独立策略引擎</a:t>
            </a:r>
          </a:p>
        </p:txBody>
      </p:sp>
      <p:sp>
        <p:nvSpPr>
          <p:cNvPr id="7" name="s8-divider">
            <a:extLst xmlns:a="http://schemas.openxmlformats.org/drawingml/2006/main">
              <a:ext uri="{FF2B5EF4-FFF2-40B4-BE49-F238E27FC236}">
                <a16:creationId xmlns:a16="http://schemas.microsoft.com/office/drawing/2014/main" id="{BB06259B-9A00-43AF-8828-32D6805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8-check-icon-0">
            <a:extLst xmlns:a="http://schemas.openxmlformats.org/drawingml/2006/main">
              <a:ext uri="{FF2B5EF4-FFF2-40B4-BE49-F238E27FC236}">
                <a16:creationId xmlns:a16="http://schemas.microsoft.com/office/drawing/2014/main" id="{F2C7E551-8BA8-498E-8647-FCAF699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66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s8-check-0">
            <a:extLst xmlns:a="http://schemas.openxmlformats.org/drawingml/2006/main">
              <a:ext uri="{FF2B5EF4-FFF2-40B4-BE49-F238E27FC236}">
                <a16:creationId xmlns:a16="http://schemas.microsoft.com/office/drawing/2014/main" id="{BD0D7734-D299-45C7-99E2-C613554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669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只加授，不做拒绝覆盖</a:t>
            </a:r>
          </a:p>
        </p:txBody>
      </p:sp>
      <p:sp>
        <p:nvSpPr>
          <p:cNvPr id="10" name="s8-check-icon-1">
            <a:extLst xmlns:a="http://schemas.openxmlformats.org/drawingml/2006/main">
              <a:ext uri="{FF2B5EF4-FFF2-40B4-BE49-F238E27FC236}">
                <a16:creationId xmlns:a16="http://schemas.microsoft.com/office/drawing/2014/main" id="{C11381D9-1F3B-4ADD-ACD0-BA65705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s8-check-1">
            <a:extLst xmlns:a="http://schemas.openxmlformats.org/drawingml/2006/main">
              <a:ext uri="{FF2B5EF4-FFF2-40B4-BE49-F238E27FC236}">
                <a16:creationId xmlns:a16="http://schemas.microsoft.com/office/drawing/2014/main" id="{2FC28795-ADB7-43CA-8095-DCEDE4D1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默认拒绝：未注册、未绑定即拒绝</a:t>
            </a:r>
          </a:p>
        </p:txBody>
      </p:sp>
      <p:sp>
        <p:nvSpPr>
          <p:cNvPr id="12" name="s8-check-icon-2">
            <a:extLst xmlns:a="http://schemas.openxmlformats.org/drawingml/2006/main">
              <a:ext uri="{FF2B5EF4-FFF2-40B4-BE49-F238E27FC236}">
                <a16:creationId xmlns:a16="http://schemas.microsoft.com/office/drawing/2014/main" id="{77D55A01-F24A-4717-A6E3-2FD92129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s8-check-2">
            <a:extLst xmlns:a="http://schemas.openxmlformats.org/drawingml/2006/main">
              <a:ext uri="{FF2B5EF4-FFF2-40B4-BE49-F238E27FC236}">
                <a16:creationId xmlns:a16="http://schemas.microsoft.com/office/drawing/2014/main" id="{A172ED53-A545-484B-8C71-918E66F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最小权限：高风险能力单独确认</a:t>
            </a:r>
          </a:p>
        </p:txBody>
      </p:sp>
      <p:sp>
        <p:nvSpPr>
          <p:cNvPr id="14" name="s8-check-icon-3">
            <a:extLst xmlns:a="http://schemas.openxmlformats.org/drawingml/2006/main">
              <a:ext uri="{FF2B5EF4-FFF2-40B4-BE49-F238E27FC236}">
                <a16:creationId xmlns:a16="http://schemas.microsoft.com/office/drawing/2014/main" id="{AFFFE8AA-EC44-4104-A61F-F9D35FCE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s8-check-3">
            <a:extLst xmlns:a="http://schemas.openxmlformats.org/drawingml/2006/main">
              <a:ext uri="{FF2B5EF4-FFF2-40B4-BE49-F238E27FC236}">
                <a16:creationId xmlns:a16="http://schemas.microsoft.com/office/drawing/2014/main" id="{0E4B5B9A-C22C-43A8-AA8D-B8D2527E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10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每次请求与每个对象都校验</a:t>
            </a:r>
          </a:p>
        </p:txBody>
      </p:sp>
      <p:sp>
        <p:nvSpPr>
          <p:cNvPr id="16" name="s8-check-icon-4">
            <a:extLst xmlns:a="http://schemas.openxmlformats.org/drawingml/2006/main">
              <a:ext uri="{FF2B5EF4-FFF2-40B4-BE49-F238E27FC236}">
                <a16:creationId xmlns:a16="http://schemas.microsoft.com/office/drawing/2014/main" id="{9A820FAA-0403-467B-ADA0-706ED64D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s8-check-4">
            <a:extLst xmlns:a="http://schemas.openxmlformats.org/drawingml/2006/main">
              <a:ext uri="{FF2B5EF4-FFF2-40B4-BE49-F238E27FC236}">
                <a16:creationId xmlns:a16="http://schemas.microsoft.com/office/drawing/2014/main" id="{87948596-CDC8-4206-AB1C-FEE5D635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911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系统管理员 ≠ 业务数据超管</a:t>
            </a:r>
          </a:p>
        </p:txBody>
      </p:sp>
    </p:spTree>
    <p:extLst>
      <p:ext uri="{BB962C8B-B14F-4D97-AF65-F5344CB8AC3E}">
        <p14:creationId xmlns:p14="http://schemas.microsoft.com/office/powerpoint/2010/main" val="788239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-9">
            <a:extLst xmlns:a="http://schemas.openxmlformats.org/drawingml/2006/main">
              <a:ext uri="{FF2B5EF4-FFF2-40B4-BE49-F238E27FC236}">
                <a16:creationId xmlns:a16="http://schemas.microsoft.com/office/drawing/2014/main" id="{B6A46FF8-2A26-4AD4-806F-3159ABFB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迁移采用双轨影子计算，逐模块切换而不是一次重写</a:t>
            </a:r>
          </a:p>
        </p:txBody>
      </p:sp>
      <p:sp>
        <p:nvSpPr>
          <p:cNvPr id="2" name="accent-9">
            <a:extLst xmlns:a="http://schemas.openxmlformats.org/drawingml/2006/main">
              <a:ext uri="{FF2B5EF4-FFF2-40B4-BE49-F238E27FC236}">
                <a16:creationId xmlns:a16="http://schemas.microsoft.com/office/drawing/2014/main" id="{943482CF-BDCC-491D-9698-F14E482D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E2C74B8A-4B98-4A81-BA77-566A8D75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s9-v-0">
            <a:extLst xmlns:a="http://schemas.openxmlformats.org/drawingml/2006/main">
              <a:ext uri="{FF2B5EF4-FFF2-40B4-BE49-F238E27FC236}">
                <a16:creationId xmlns:a16="http://schemas.microsoft.com/office/drawing/2014/main" id="{828568A1-EFC3-4345-A599-04F40AE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9525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-v-1">
            <a:extLst xmlns:a="http://schemas.openxmlformats.org/drawingml/2006/main">
              <a:ext uri="{FF2B5EF4-FFF2-40B4-BE49-F238E27FC236}">
                <a16:creationId xmlns:a16="http://schemas.microsoft.com/office/drawing/2014/main" id="{5F89598A-4EEB-4538-B04C-7F71B1EC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715" y="1562100"/>
            <a:ext cx="9525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9-v-2">
            <a:extLst xmlns:a="http://schemas.openxmlformats.org/drawingml/2006/main">
              <a:ext uri="{FF2B5EF4-FFF2-40B4-BE49-F238E27FC236}">
                <a16:creationId xmlns:a16="http://schemas.microsoft.com/office/drawing/2014/main" id="{E504D103-24E1-46DB-80A0-5B410864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905" y="1562100"/>
            <a:ext cx="9525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9-v-3">
            <a:extLst xmlns:a="http://schemas.openxmlformats.org/drawingml/2006/main">
              <a:ext uri="{FF2B5EF4-FFF2-40B4-BE49-F238E27FC236}">
                <a16:creationId xmlns:a16="http://schemas.microsoft.com/office/drawing/2014/main" id="{ECB68453-8CC8-487F-9228-6CEFF30A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095" y="1562100"/>
            <a:ext cx="9525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9-v-4">
            <a:extLst xmlns:a="http://schemas.openxmlformats.org/drawingml/2006/main">
              <a:ext uri="{FF2B5EF4-FFF2-40B4-BE49-F238E27FC236}">
                <a16:creationId xmlns:a16="http://schemas.microsoft.com/office/drawing/2014/main" id="{C9C27D3E-DCA7-40A5-8AD9-95EBEA3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285" y="1562100"/>
            <a:ext cx="9525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9-v-5">
            <a:extLst xmlns:a="http://schemas.openxmlformats.org/drawingml/2006/main">
              <a:ext uri="{FF2B5EF4-FFF2-40B4-BE49-F238E27FC236}">
                <a16:creationId xmlns:a16="http://schemas.microsoft.com/office/drawing/2014/main" id="{7E4A5573-8E6B-434B-B233-DB60567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1562100"/>
            <a:ext cx="9525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9-h-0">
            <a:extLst xmlns:a="http://schemas.openxmlformats.org/drawingml/2006/main">
              <a:ext uri="{FF2B5EF4-FFF2-40B4-BE49-F238E27FC236}">
                <a16:creationId xmlns:a16="http://schemas.microsoft.com/office/drawing/2014/main" id="{915D3B89-233B-4BFF-A0C4-C472E17C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9-h-1">
            <a:extLst xmlns:a="http://schemas.openxmlformats.org/drawingml/2006/main">
              <a:ext uri="{FF2B5EF4-FFF2-40B4-BE49-F238E27FC236}">
                <a16:creationId xmlns:a16="http://schemas.microsoft.com/office/drawing/2014/main" id="{A2B31F85-3779-48CD-BC11-234729A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098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9-h-2">
            <a:extLst xmlns:a="http://schemas.openxmlformats.org/drawingml/2006/main">
              <a:ext uri="{FF2B5EF4-FFF2-40B4-BE49-F238E27FC236}">
                <a16:creationId xmlns:a16="http://schemas.microsoft.com/office/drawing/2014/main" id="{445211F2-47E8-47FA-BD71-A3DB72A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9-h-3">
            <a:extLst xmlns:a="http://schemas.openxmlformats.org/drawingml/2006/main">
              <a:ext uri="{FF2B5EF4-FFF2-40B4-BE49-F238E27FC236}">
                <a16:creationId xmlns:a16="http://schemas.microsoft.com/office/drawing/2014/main" id="{FEA82CCF-4D19-416C-8F11-5896E925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052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9-h-4">
            <a:extLst xmlns:a="http://schemas.openxmlformats.org/drawingml/2006/main">
              <a:ext uri="{FF2B5EF4-FFF2-40B4-BE49-F238E27FC236}">
                <a16:creationId xmlns:a16="http://schemas.microsoft.com/office/drawing/2014/main" id="{E1ACF3EB-D7D0-4180-9593-29B68874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9-h-5">
            <a:extLst xmlns:a="http://schemas.openxmlformats.org/drawingml/2006/main">
              <a:ext uri="{FF2B5EF4-FFF2-40B4-BE49-F238E27FC236}">
                <a16:creationId xmlns:a16="http://schemas.microsoft.com/office/drawing/2014/main" id="{07788B68-E726-497A-958B-4256C86C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00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9-h-6">
            <a:extLst xmlns:a="http://schemas.openxmlformats.org/drawingml/2006/main">
              <a:ext uri="{FF2B5EF4-FFF2-40B4-BE49-F238E27FC236}">
                <a16:creationId xmlns:a16="http://schemas.microsoft.com/office/drawing/2014/main" id="{93A307C3-660B-45AC-93BC-D795805C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483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9-header-0">
            <a:extLst xmlns:a="http://schemas.openxmlformats.org/drawingml/2006/main">
              <a:ext uri="{FF2B5EF4-FFF2-40B4-BE49-F238E27FC236}">
                <a16:creationId xmlns:a16="http://schemas.microsoft.com/office/drawing/2014/main" id="{0944F878-76E7-48A2-833C-EB77BA0D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95450"/>
            <a:ext cx="20535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盘点</a:t>
            </a:r>
          </a:p>
        </p:txBody>
      </p:sp>
      <p:sp>
        <p:nvSpPr>
          <p:cNvPr id="18" name="s9-header-1">
            <a:extLst xmlns:a="http://schemas.openxmlformats.org/drawingml/2006/main">
              <a:ext uri="{FF2B5EF4-FFF2-40B4-BE49-F238E27FC236}">
                <a16:creationId xmlns:a16="http://schemas.microsoft.com/office/drawing/2014/main" id="{7A910C61-06AC-40EF-8BDA-EA85C65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15" y="1695450"/>
            <a:ext cx="20535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19" name="s9-header-2">
            <a:extLst xmlns:a="http://schemas.openxmlformats.org/drawingml/2006/main">
              <a:ext uri="{FF2B5EF4-FFF2-40B4-BE49-F238E27FC236}">
                <a16:creationId xmlns:a16="http://schemas.microsoft.com/office/drawing/2014/main" id="{244984D4-3DAE-4062-AA4B-41BF52F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05" y="1695450"/>
            <a:ext cx="20535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影子计算</a:t>
            </a:r>
          </a:p>
        </p:txBody>
      </p:sp>
      <p:sp>
        <p:nvSpPr>
          <p:cNvPr id="20" name="s9-header-3">
            <a:extLst xmlns:a="http://schemas.openxmlformats.org/drawingml/2006/main">
              <a:ext uri="{FF2B5EF4-FFF2-40B4-BE49-F238E27FC236}">
                <a16:creationId xmlns:a16="http://schemas.microsoft.com/office/drawing/2014/main" id="{1793F349-3E12-4513-897E-64D7AC45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395" y="1695450"/>
            <a:ext cx="20535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分批切换</a:t>
            </a:r>
          </a:p>
        </p:txBody>
      </p:sp>
      <p:sp>
        <p:nvSpPr>
          <p:cNvPr id="21" name="s9-header-4">
            <a:extLst xmlns:a="http://schemas.openxmlformats.org/drawingml/2006/main">
              <a:ext uri="{FF2B5EF4-FFF2-40B4-BE49-F238E27FC236}">
                <a16:creationId xmlns:a16="http://schemas.microsoft.com/office/drawing/2014/main" id="{33444031-739F-45D4-B934-0A2668B4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585" y="1695450"/>
            <a:ext cx="20535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退役旧标识</a:t>
            </a:r>
          </a:p>
        </p:txBody>
      </p:sp>
      <p:sp>
        <p:nvSpPr>
          <p:cNvPr id="22" name="s9-bar-0">
            <a:extLst xmlns:a="http://schemas.openxmlformats.org/drawingml/2006/main">
              <a:ext uri="{FF2B5EF4-FFF2-40B4-BE49-F238E27FC236}">
                <a16:creationId xmlns:a16="http://schemas.microsoft.com/office/drawing/2014/main" id="{34A3889C-5AE1-40A3-B838-EA17C770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"/>
            <a:ext cx="3333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9-bar-label-0">
            <a:extLst xmlns:a="http://schemas.openxmlformats.org/drawingml/2006/main">
              <a:ext uri="{FF2B5EF4-FFF2-40B4-BE49-F238E27FC236}">
                <a16:creationId xmlns:a16="http://schemas.microsoft.com/office/drawing/2014/main" id="{9B0A746E-B2CE-40DD-8650-85A594FC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98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  盘点旧 API、前端绑定与孤儿权限</a:t>
            </a:r>
          </a:p>
        </p:txBody>
      </p:sp>
      <p:sp>
        <p:nvSpPr>
          <p:cNvPr id="24" name="s9-bar-1">
            <a:extLst xmlns:a="http://schemas.openxmlformats.org/drawingml/2006/main">
              <a:ext uri="{FF2B5EF4-FFF2-40B4-BE49-F238E27FC236}">
                <a16:creationId xmlns:a16="http://schemas.microsoft.com/office/drawing/2014/main" id="{45851B5C-9F1D-4FA6-8EE2-C7A8843F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71800"/>
            <a:ext cx="4953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9-bar-label-1">
            <a:extLst xmlns:a="http://schemas.openxmlformats.org/drawingml/2006/main">
              <a:ext uri="{FF2B5EF4-FFF2-40B4-BE49-F238E27FC236}">
                <a16:creationId xmlns:a16="http://schemas.microsoft.com/office/drawing/2014/main" id="{B63AAF0F-1F97-4D50-AED7-5A73954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057525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  建功能目录、资源注册表与映射</a:t>
            </a:r>
          </a:p>
        </p:txBody>
      </p:sp>
      <p:sp>
        <p:nvSpPr>
          <p:cNvPr id="26" name="s9-bar-2">
            <a:extLst xmlns:a="http://schemas.openxmlformats.org/drawingml/2006/main">
              <a:ext uri="{FF2B5EF4-FFF2-40B4-BE49-F238E27FC236}">
                <a16:creationId xmlns:a16="http://schemas.microsoft.com/office/drawing/2014/main" id="{7A2D9598-35FA-4B11-9FE8-AEBB2A74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50958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9-bar-label-2">
            <a:extLst xmlns:a="http://schemas.openxmlformats.org/drawingml/2006/main">
              <a:ext uri="{FF2B5EF4-FFF2-40B4-BE49-F238E27FC236}">
                <a16:creationId xmlns:a16="http://schemas.microsoft.com/office/drawing/2014/main" id="{B867FC75-7CB0-485D-A52F-567B7A19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05225"/>
            <a:ext cx="4829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  旧规则放行，新规则影子计算差异</a:t>
            </a:r>
          </a:p>
        </p:txBody>
      </p:sp>
      <p:sp>
        <p:nvSpPr>
          <p:cNvPr id="28" name="s9-bar-3">
            <a:extLst xmlns:a="http://schemas.openxmlformats.org/drawingml/2006/main">
              <a:ext uri="{FF2B5EF4-FFF2-40B4-BE49-F238E27FC236}">
                <a16:creationId xmlns:a16="http://schemas.microsoft.com/office/drawing/2014/main" id="{936A8CF6-AD2E-4083-92D2-36BEEFF0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7200"/>
            <a:ext cx="4095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9-bar-label-3">
            <a:extLst xmlns:a="http://schemas.openxmlformats.org/drawingml/2006/main">
              <a:ext uri="{FF2B5EF4-FFF2-40B4-BE49-F238E27FC236}">
                <a16:creationId xmlns:a16="http://schemas.microsoft.com/office/drawing/2014/main" id="{44A11D77-55CF-4ABB-867F-81C6D8D9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529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 回填角色与用户例外，补齐测试</a:t>
            </a:r>
          </a:p>
        </p:txBody>
      </p:sp>
      <p:sp>
        <p:nvSpPr>
          <p:cNvPr id="30" name="s9-bar-4">
            <a:extLst xmlns:a="http://schemas.openxmlformats.org/drawingml/2006/main">
              <a:ext uri="{FF2B5EF4-FFF2-40B4-BE49-F238E27FC236}">
                <a16:creationId xmlns:a16="http://schemas.microsoft.com/office/drawing/2014/main" id="{A0ED9256-1F88-45A2-95AB-4BEAE55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31908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9-bar-label-4">
            <a:extLst xmlns:a="http://schemas.openxmlformats.org/drawingml/2006/main">
              <a:ext uri="{FF2B5EF4-FFF2-40B4-BE49-F238E27FC236}">
                <a16:creationId xmlns:a16="http://schemas.microsoft.com/office/drawing/2014/main" id="{8CC90896-349A-4DD3-BE2E-48AB9DD7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00625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逐模块切换并停止外显 API 标识</a:t>
            </a:r>
          </a:p>
        </p:txBody>
      </p:sp>
      <p:sp>
        <p:nvSpPr>
          <p:cNvPr id="32" name="s9-gate">
            <a:extLst xmlns:a="http://schemas.openxmlformats.org/drawingml/2006/main">
              <a:ext uri="{FF2B5EF4-FFF2-40B4-BE49-F238E27FC236}">
                <a16:creationId xmlns:a16="http://schemas.microsoft.com/office/drawing/2014/main" id="{D0A98AEC-0C89-439A-A25E-42A34554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切换门槛：差异逐项解释；高风险模块最后切；旧 API 关系保留为资源审计历史。</a:t>
            </a:r>
          </a:p>
        </p:txBody>
      </p:sp>
    </p:spTree>
    <p:extLst>
      <p:ext uri="{BB962C8B-B14F-4D97-AF65-F5344CB8AC3E}">
        <p14:creationId xmlns:p14="http://schemas.microsoft.com/office/powerpoint/2010/main" val="942391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10-eyebrow">
            <a:extLst xmlns:a="http://schemas.openxmlformats.org/drawingml/2006/main">
              <a:ext uri="{FF2B5EF4-FFF2-40B4-BE49-F238E27FC236}">
                <a16:creationId xmlns:a16="http://schemas.microsoft.com/office/drawing/2014/main" id="{6CAC538D-DDE2-447B-81C2-66711BFD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待会议确认</a:t>
            </a:r>
          </a:p>
        </p:txBody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96B96B43-2D1E-41D9-B364-F4AED26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批准架构原则，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启动权限清单与迁移盘点</a:t>
            </a:r>
          </a:p>
        </p:txBody>
      </p:sp>
      <p:sp>
        <p:nvSpPr>
          <p:cNvPr id="3" name="s10-accent">
            <a:extLst xmlns:a="http://schemas.openxmlformats.org/drawingml/2006/main">
              <a:ext uri="{FF2B5EF4-FFF2-40B4-BE49-F238E27FC236}">
                <a16:creationId xmlns:a16="http://schemas.microsoft.com/office/drawing/2014/main" id="{3250D72E-5D3C-4504-A735-0B628A64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0-actions">
            <a:extLst xmlns:a="http://schemas.openxmlformats.org/drawingml/2006/main">
              <a:ext uri="{FF2B5EF4-FFF2-40B4-BE49-F238E27FC236}">
                <a16:creationId xmlns:a16="http://schemas.microsoft.com/office/drawing/2014/main" id="{2B07D41B-468B-4D89-BB53-38ABD44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业务确认：功能目录与高风险动作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研发确认：资源映射、默认拒绝与测试门槛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管理确认：角色、岗位与数据域责任人</a:t>
            </a:r>
          </a:p>
        </p:txBody>
      </p:sp>
      <p:sp>
        <p:nvSpPr>
          <p:cNvPr id="5" name="s10-end">
            <a:extLst xmlns:a="http://schemas.openxmlformats.org/drawingml/2006/main">
              <a:ext uri="{FF2B5EF4-FFF2-40B4-BE49-F238E27FC236}">
                <a16:creationId xmlns:a16="http://schemas.microsoft.com/office/drawing/2014/main" id="{D23F3B1B-8C5C-42AD-8605-DE4E7D1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下一步：选择 CRM 客户模块做首个样板。</a:t>
            </a:r>
          </a:p>
        </p:txBody>
      </p:sp>
    </p:spTree>
    <p:extLst>
      <p:ext uri="{BB962C8B-B14F-4D97-AF65-F5344CB8AC3E}">
        <p14:creationId xmlns:p14="http://schemas.microsoft.com/office/powerpoint/2010/main" val="1399598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2026-08-08T11:55:50.6650000Z</dcterms:created>
  <dcterms:modified xsi:type="dcterms:W3CDTF">2026-08-08T11:55:50.6660000Z</dcterms:modified>
</coreProperties>
</file>